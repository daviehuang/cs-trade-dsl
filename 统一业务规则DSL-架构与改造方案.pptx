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0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统一业务规则 DSL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9FC2E6"/>
                </a:solidFill>
                <a:latin typeface="Microsoft YaHei"/>
                <a:ea typeface="Microsoft YaHei"/>
                <a:cs typeface="Microsoft YaHei"/>
              </a:rPr>
              <a:t>One Rule → Multiple Runtimes  ·  一套规则，多端一致运行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面向国际结算 / 信用证业务的校验 + 计算 + 状态控制引擎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FD6EC"/>
                </a:solidFill>
                <a:latin typeface="Microsoft YaHei"/>
                <a:ea typeface="Microsoft YaHei"/>
                <a:cs typeface="Microsoft YaHei"/>
              </a:rPr>
              <a:t>架构 · 功能 · 亮点 · 现有 J2EE 改造路径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FA6CC"/>
                </a:solidFill>
                <a:latin typeface="Microsoft YaHei"/>
                <a:ea typeface="Microsoft YaHei"/>
                <a:cs typeface="Microsoft YaHei"/>
              </a:rPr>
              <a:t>方案汇报  ·  cs-trade-dsl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C2E6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5212080" cy="749808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914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371600"/>
            <a:ext cx="4023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3D6B"/>
                </a:solidFill>
                <a:latin typeface="Microsoft YaHei"/>
                <a:ea typeface="Microsoft YaHei"/>
                <a:cs typeface="Microsoft YaHei"/>
              </a:rPr>
              <a:t>业务背景与痛点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31720"/>
            <a:ext cx="5212080" cy="749808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914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331720"/>
            <a:ext cx="4023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3D6B"/>
                </a:solidFill>
                <a:latin typeface="Microsoft YaHei"/>
                <a:ea typeface="Microsoft YaHei"/>
                <a:cs typeface="Microsoft YaHei"/>
              </a:rPr>
              <a:t>核心理念：一套规则多端运行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91840"/>
            <a:ext cx="5212080" cy="749808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91840"/>
            <a:ext cx="914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91840"/>
            <a:ext cx="4023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3D6B"/>
                </a:solidFill>
                <a:latin typeface="Microsoft YaHei"/>
                <a:ea typeface="Microsoft YaHei"/>
                <a:cs typeface="Microsoft YaHei"/>
              </a:rPr>
              <a:t>总体架构与关键决策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51960"/>
            <a:ext cx="5212080" cy="749808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51960"/>
            <a:ext cx="914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251960"/>
            <a:ext cx="4023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3D6B"/>
                </a:solidFill>
                <a:latin typeface="Microsoft YaHei"/>
                <a:ea typeface="Microsoft YaHei"/>
                <a:cs typeface="Microsoft YaHei"/>
              </a:rPr>
              <a:t>功能特性总览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212080"/>
            <a:ext cx="5212080" cy="749808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212080"/>
            <a:ext cx="914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212080"/>
            <a:ext cx="4023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3D6B"/>
                </a:solidFill>
                <a:latin typeface="Microsoft YaHei"/>
                <a:ea typeface="Microsoft YaHei"/>
                <a:cs typeface="Microsoft YaHei"/>
              </a:rPr>
              <a:t>一致性与防篡改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371600"/>
            <a:ext cx="5212080" cy="749808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371600"/>
            <a:ext cx="914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1371600"/>
            <a:ext cx="4023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3D6B"/>
                </a:solidFill>
                <a:latin typeface="Microsoft YaHei"/>
                <a:ea typeface="Microsoft YaHei"/>
                <a:cs typeface="Microsoft YaHei"/>
              </a:rPr>
              <a:t>方案亮点 / 优势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331720"/>
            <a:ext cx="5212080" cy="749808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331720"/>
            <a:ext cx="914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2331720"/>
            <a:ext cx="4023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3D6B"/>
                </a:solidFill>
                <a:latin typeface="Microsoft YaHei"/>
                <a:ea typeface="Microsoft YaHei"/>
                <a:cs typeface="Microsoft YaHei"/>
              </a:rPr>
              <a:t>现有 J2EE 改造路径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291840"/>
            <a:ext cx="5212080" cy="749808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291840"/>
            <a:ext cx="914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3291840"/>
            <a:ext cx="4023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3D6B"/>
                </a:solidFill>
                <a:latin typeface="Microsoft YaHei"/>
                <a:ea typeface="Microsoft YaHei"/>
                <a:cs typeface="Microsoft YaHei"/>
              </a:rPr>
              <a:t>落地路线图与风险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251960"/>
            <a:ext cx="5212080" cy="749808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251960"/>
            <a:ext cx="914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4251960"/>
            <a:ext cx="4023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3D6B"/>
                </a:solidFill>
                <a:latin typeface="Microsoft YaHei"/>
                <a:ea typeface="Microsoft YaHei"/>
                <a:cs typeface="Microsoft YaHei"/>
              </a:rPr>
              <a:t>其它建议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677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C2E6"/>
                </a:solidFill>
                <a:latin typeface="Microsoft YaHei"/>
                <a:ea typeface="Microsoft YaHei"/>
                <a:cs typeface="Microsoft YaHei"/>
              </a:rPr>
              <a:t>01 · Why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业务背景与痛点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94360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500" b="1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信用证 / 国际结算业务：一个页面上千字段，收费、付费层层嵌套子记录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500" b="1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计算依赖后台异步取数（汇率等），且需金融级精度（不能用浮点）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500" b="1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同一条规则今天散落在三处，各写一遍 ——</a:t>
            </a:r>
          </a:p>
          <a:p>
            <a:pPr lvl="1"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400" b="0" i="0">
                <a:solidFill>
                  <a:srgbClr val="5A6677"/>
                </a:solidFill>
                <a:latin typeface="Microsoft YaHei"/>
                <a:ea typeface="Microsoft YaHei"/>
                <a:cs typeface="Microsoft YaHei"/>
              </a:rPr>
              <a:t>前端 JS 校验 / 计算（求快、即时反馈）</a:t>
            </a:r>
          </a:p>
          <a:p>
            <a:pPr lvl="1"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400" b="0" i="0">
                <a:solidFill>
                  <a:srgbClr val="5A6677"/>
                </a:solidFill>
                <a:latin typeface="Microsoft YaHei"/>
                <a:ea typeface="Microsoft YaHei"/>
                <a:cs typeface="Microsoft YaHei"/>
              </a:rPr>
              <a:t>BFF / 服务层校验（求稳）</a:t>
            </a:r>
          </a:p>
          <a:p>
            <a:pPr lvl="1"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400" b="0" i="0">
                <a:solidFill>
                  <a:srgbClr val="5A6677"/>
                </a:solidFill>
                <a:latin typeface="Microsoft YaHei"/>
                <a:ea typeface="Microsoft YaHei"/>
                <a:cs typeface="Microsoft YaHei"/>
              </a:rPr>
              <a:t>Java 中台 / 存储过程（求准、权威）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463040"/>
            <a:ext cx="4754880" cy="214884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463040"/>
            <a:ext cx="50800" cy="2148840"/>
          </a:xfrm>
          <a:prstGeom prst="rect">
            <a:avLst/>
          </a:prstGeom>
          <a:solidFill>
            <a:srgbClr val="C03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591056"/>
            <a:ext cx="4407408" cy="1892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C0392C"/>
                </a:solidFill>
                <a:latin typeface="Microsoft YaHei"/>
                <a:ea typeface="Microsoft YaHei"/>
                <a:cs typeface="Microsoft YaHei"/>
              </a:rPr>
              <a:t>后果：规则漂移 (drift)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三份等价实现，靠人工纪律保持一致 → 必然走样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改一条规则要改三处、三次发版、三次回归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前端可被篡改：计算值提交后台无人复核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3749039"/>
            <a:ext cx="4754880" cy="214884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0" y="3749039"/>
            <a:ext cx="50800" cy="2148840"/>
          </a:xfrm>
          <a:prstGeom prst="rect">
            <a:avLst/>
          </a:prstGeom>
          <a:solidFill>
            <a:srgbClr val="1C8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59168" y="3877055"/>
            <a:ext cx="4407408" cy="1892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C8A4E"/>
                </a:solidFill>
                <a:latin typeface="Microsoft YaHei"/>
                <a:ea typeface="Microsoft YaHei"/>
                <a:cs typeface="Microsoft YaHei"/>
              </a:rPr>
              <a:t>诉求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校验 + 计算 + 状态控制从 UI 与微服务中解耦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业务规则独立演进：改规则不动代码、不重新发版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一致性靠工程保证，而非靠开发自觉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67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C2E6"/>
                </a:solidFill>
                <a:latin typeface="Microsoft YaHei"/>
                <a:ea typeface="Microsoft YaHei"/>
                <a:cs typeface="Microsoft YaHei"/>
              </a:rPr>
              <a:t>02 · Concept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核心理念：一套规则，多端运行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3D6B"/>
                </a:solidFill>
                <a:latin typeface="Microsoft YaHei"/>
                <a:ea typeface="Microsoft YaHei"/>
                <a:cs typeface="Microsoft YaHei"/>
              </a:rPr>
              <a:t>ADR-1：把“一致性”从靠纪律变成靠工程 —— 内核写一份，编译到多端目标。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394960" cy="402336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50800" cy="4023360"/>
          </a:xfrm>
          <a:prstGeom prst="rect">
            <a:avLst/>
          </a:prstGeom>
          <a:solidFill>
            <a:srgbClr val="C03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139696"/>
            <a:ext cx="5047488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C0392C"/>
                </a:solidFill>
                <a:latin typeface="Microsoft YaHei"/>
                <a:ea typeface="Microsoft YaHei"/>
                <a:cs typeface="Microsoft YaHei"/>
              </a:rPr>
              <a:t>✗ 路线 A：规则转译成多语言源码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前端一份 JS、后台一份 Java，各自维护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“等价实现”靠评审与测试对齐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语言语义差异（舍入、null、精度）天然易漂移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新增一端 = 再写一份实现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—— 本项目不采用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011680"/>
            <a:ext cx="5349240" cy="402336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2011680"/>
            <a:ext cx="50800" cy="4023360"/>
          </a:xfrm>
          <a:prstGeom prst="rect">
            <a:avLst/>
          </a:prstGeom>
          <a:solidFill>
            <a:srgbClr val="1C8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2139696"/>
            <a:ext cx="5001768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C8A4E"/>
                </a:solidFill>
                <a:latin typeface="Microsoft YaHei"/>
                <a:ea typeface="Microsoft YaHei"/>
                <a:cs typeface="Microsoft YaHei"/>
              </a:rPr>
              <a:t>✓ 路线 B：单源内核 + 多平台产物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解释器 / 内核只写一份（单一事实来源）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编译成多端目标：JS（前端）、WASM（JVM 中台）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同一份逻辑 → 同输入必同输出，根治 drift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十进制语义统一（HALF_UP / 精度 34 / 禁浮点）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新增一端 = 复用同一内核，零重写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677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C2E6"/>
                </a:solidFill>
                <a:latin typeface="Microsoft YaHei"/>
                <a:ea typeface="Microsoft YaHei"/>
                <a:cs typeface="Microsoft YaHei"/>
              </a:rPr>
              <a:t>03 · Architecture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总体架构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10972800" cy="777240"/>
          </a:xfrm>
          <a:prstGeom prst="rect">
            <a:avLst/>
          </a:prstGeom>
          <a:solidFill>
            <a:srgbClr val="1D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10607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规则仓库 / 分发层  ·  Rule Bundle API（版本化 · 灰度 canary · 指针回滚 · 运行时按 featureId 下发）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10972800" cy="77724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0607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单源内核 Kernel（表达式 / Formula / 校验 / 状态）  →  编译为多端产物（ADR-1 路线 B）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29000"/>
            <a:ext cx="3520440" cy="2240280"/>
          </a:xfrm>
          <a:prstGeom prst="rect">
            <a:avLst/>
          </a:prstGeom>
          <a:solidFill>
            <a:srgbClr val="EEF3FB"/>
          </a:solidFill>
          <a:ln w="15875">
            <a:solidFill>
              <a:srgbClr val="0B6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429000"/>
            <a:ext cx="3520440" cy="63500"/>
          </a:xfrm>
          <a:prstGeom prst="rect">
            <a:avLst/>
          </a:prstGeom>
          <a:solidFill>
            <a:srgbClr val="0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84448"/>
            <a:ext cx="3200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前端 UI 运行时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Angular / HTML / 第三方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运行时加载 RuleSet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增量引擎即时反馈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求快 · 只作建议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1688" y="3429000"/>
            <a:ext cx="3520440" cy="2240280"/>
          </a:xfrm>
          <a:prstGeom prst="rect">
            <a:avLst/>
          </a:prstGeom>
          <a:solidFill>
            <a:srgbClr val="EEF3FB"/>
          </a:solidFill>
          <a:ln w="15875">
            <a:solidFill>
              <a:srgbClr val="1D5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3429000"/>
            <a:ext cx="3520440" cy="63500"/>
          </a:xfrm>
          <a:prstGeom prst="rect">
            <a:avLst/>
          </a:prstGeom>
          <a:solidFill>
            <a:srgbClr val="1D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3584448"/>
            <a:ext cx="3200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D5E96"/>
                </a:solidFill>
                <a:latin typeface="Microsoft YaHei"/>
                <a:ea typeface="Microsoft YaHei"/>
                <a:cs typeface="Microsoft YaHei"/>
              </a:rPr>
              <a:t>Node.js BFF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防腐层 / 统一入口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提交前预校验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转发中台 · 差异留痕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求稳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3429000"/>
            <a:ext cx="3520440" cy="2240280"/>
          </a:xfrm>
          <a:prstGeom prst="rect">
            <a:avLst/>
          </a:prstGeom>
          <a:solidFill>
            <a:srgbClr val="EEF3FB"/>
          </a:solidFill>
          <a:ln w="15875">
            <a:solidFill>
              <a:srgbClr val="0B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3429000"/>
            <a:ext cx="3520440" cy="635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3584448"/>
            <a:ext cx="3200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B3D6B"/>
                </a:solidFill>
                <a:latin typeface="Microsoft YaHei"/>
                <a:ea typeface="Microsoft YaHei"/>
                <a:cs typeface="Microsoft YaHei"/>
              </a:rPr>
              <a:t>Java 中台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权威重算（WASM 内核）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只取原始输入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篡改 / 越权识破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求准 · 最终裁决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6609"/>
                </a:solidFill>
                <a:latin typeface="Microsoft YaHei"/>
                <a:ea typeface="Microsoft YaHei"/>
                <a:cs typeface="Microsoft YaHei"/>
              </a:rPr>
              <a:t>ADR-7 Resolver：汇率等异步外部数据作为字段注入；纯引擎从不做 IO，IO 由宿主提供。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677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C2E6"/>
                </a:solidFill>
                <a:latin typeface="Microsoft YaHei"/>
                <a:ea typeface="Microsoft YaHei"/>
                <a:cs typeface="Microsoft YaHei"/>
              </a:rPr>
              <a:t>03 · Decisions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关键架构决策（ADR 摘要）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972800" cy="365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7280"/>
                <a:gridCol w="2743200"/>
                <a:gridCol w="7132320"/>
              </a:tblGrid>
              <a:tr h="4572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</a:t>
                      </a:r>
                    </a:p>
                  </a:txBody>
                  <a:tcPr marL="73152" marR="54864" marT="27432" marB="27432" anchor="ctr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</a:t>
                      </a:r>
                    </a:p>
                  </a:txBody>
                  <a:tcPr marL="73152" marR="54864" marT="27432" marB="27432" anchor="ctr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</a:t>
                      </a:r>
                    </a:p>
                  </a:txBody>
                  <a:tcPr marL="73152" marR="54864" marT="27432" marB="27432" anchor="ctr">
                    <a:solidFill>
                      <a:srgbClr val="0B3D6B"/>
                    </a:solidFill>
                  </a:tcPr>
                </a:tc>
              </a:tr>
              <a:tr h="457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ADR-1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如何保证前后端一致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单源多目标内核（路线 B），而非多语言转译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ADR-2</a:t>
                      </a:r>
                    </a:p>
                  </a:txBody>
                  <a:tcPr marL="73152" marR="54864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UI 提交什么</a:t>
                      </a:r>
                    </a:p>
                  </a:txBody>
                  <a:tcPr marL="73152" marR="54864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只提交原始输入，不提交计算结果（防篡改）</a:t>
                      </a:r>
                    </a:p>
                  </a:txBody>
                  <a:tcPr marL="73152" marR="54864" marT="27432" marB="27432" anchor="ctr">
                    <a:solidFill>
                      <a:srgbClr val="F3F5F9"/>
                    </a:solidFill>
                  </a:tcPr>
                </a:tc>
              </a:tr>
              <a:tr h="457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ADR-3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结果冲突谁说了算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中台 / Server 权威重算，差异留痕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ADR-5</a:t>
                      </a:r>
                    </a:p>
                  </a:txBody>
                  <a:tcPr marL="73152" marR="54864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规则如何演进</a:t>
                      </a:r>
                    </a:p>
                  </a:txBody>
                  <a:tcPr marL="73152" marR="54864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不可变版本 + canary 灰度 + 指针回滚</a:t>
                      </a:r>
                    </a:p>
                  </a:txBody>
                  <a:tcPr marL="73152" marR="54864" marT="27432" marB="27432" anchor="ctr">
                    <a:solidFill>
                      <a:srgbClr val="F3F5F9"/>
                    </a:solidFill>
                  </a:tcPr>
                </a:tc>
              </a:tr>
              <a:tr h="457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ADR-7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异步取数怎么接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Resolver 把外部数据注入为字段，引擎不做 IO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ADR-8</a:t>
                      </a:r>
                    </a:p>
                  </a:txBody>
                  <a:tcPr marL="73152" marR="54864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上千字段如何高效</a:t>
                      </a:r>
                    </a:p>
                  </a:txBody>
                  <a:tcPr marL="73152" marR="54864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增量依赖图：改一处只重算受影响的链</a:t>
                      </a:r>
                    </a:p>
                  </a:txBody>
                  <a:tcPr marL="73152" marR="54864" marT="27432" marB="27432" anchor="ctr">
                    <a:solidFill>
                      <a:srgbClr val="F3F5F9"/>
                    </a:solidFill>
                  </a:tcPr>
                </a:tc>
              </a:tr>
              <a:tr h="457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ADR-9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中台如何一致复算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钉值快照（rate+key+rateId）随交易提交复核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677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C2E6"/>
                </a:solidFill>
                <a:latin typeface="Microsoft YaHei"/>
                <a:ea typeface="Microsoft YaHei"/>
                <a:cs typeface="Microsoft YaHei"/>
              </a:rPr>
              <a:t>04 · Features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功能特性总览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3520440" cy="146304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50800" cy="1463040"/>
          </a:xfrm>
          <a:prstGeom prst="rect">
            <a:avLst/>
          </a:prstGeom>
          <a:solidFill>
            <a:srgbClr val="0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17904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3D6B"/>
                </a:solidFill>
                <a:latin typeface="Microsoft YaHei"/>
                <a:ea typeface="Microsoft YaHei"/>
                <a:cs typeface="Microsoft YaHei"/>
              </a:rPr>
              <a:t>规则三件套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校验 + 计算 + 状态控制，声明式 DSL 表达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1371600"/>
            <a:ext cx="3520440" cy="146304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371600"/>
            <a:ext cx="50800" cy="1463040"/>
          </a:xfrm>
          <a:prstGeom prst="rect">
            <a:avLst/>
          </a:prstGeom>
          <a:solidFill>
            <a:srgbClr val="0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517904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3D6B"/>
                </a:solidFill>
                <a:latin typeface="Microsoft YaHei"/>
                <a:ea typeface="Microsoft YaHei"/>
                <a:cs typeface="Microsoft YaHei"/>
              </a:rPr>
              <a:t>增量计算引擎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依赖图 / 脏传播 / 拓扑结算，改一处只算一条链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3296" y="1371600"/>
            <a:ext cx="3520440" cy="146304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371600"/>
            <a:ext cx="50800" cy="1463040"/>
          </a:xfrm>
          <a:prstGeom prst="rect">
            <a:avLst/>
          </a:prstGeom>
          <a:solidFill>
            <a:srgbClr val="0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517904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3D6B"/>
                </a:solidFill>
                <a:latin typeface="Microsoft YaHei"/>
                <a:ea typeface="Microsoft YaHei"/>
                <a:cs typeface="Microsoft YaHei"/>
              </a:rPr>
              <a:t>异步取数 Resolver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汇率等外部数据注入；pending 状态沿依赖链传播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999232"/>
            <a:ext cx="3520440" cy="146304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999232"/>
            <a:ext cx="50800" cy="1463040"/>
          </a:xfrm>
          <a:prstGeom prst="rect">
            <a:avLst/>
          </a:prstGeom>
          <a:solidFill>
            <a:srgbClr val="0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145536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3D6B"/>
                </a:solidFill>
                <a:latin typeface="Microsoft YaHei"/>
                <a:ea typeface="Microsoft YaHei"/>
                <a:cs typeface="Microsoft YaHei"/>
              </a:rPr>
              <a:t>任意深度嵌套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信用证 → 收费组 → 明细 + 付费，多层子集合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1688" y="2999232"/>
            <a:ext cx="3520440" cy="146304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61688" y="2999232"/>
            <a:ext cx="50800" cy="1463040"/>
          </a:xfrm>
          <a:prstGeom prst="rect">
            <a:avLst/>
          </a:prstGeom>
          <a:solidFill>
            <a:srgbClr val="0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3145536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3D6B"/>
                </a:solidFill>
                <a:latin typeface="Microsoft YaHei"/>
                <a:ea typeface="Microsoft YaHei"/>
                <a:cs typeface="Microsoft YaHei"/>
              </a:rPr>
              <a:t>子记录增删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运行时增删子项，依赖与下标稳定（墓碑策略）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3296" y="2999232"/>
            <a:ext cx="3520440" cy="146304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3296" y="2999232"/>
            <a:ext cx="50800" cy="1463040"/>
          </a:xfrm>
          <a:prstGeom prst="rect">
            <a:avLst/>
          </a:prstGeom>
          <a:solidFill>
            <a:srgbClr val="0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4" y="3145536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3D6B"/>
                </a:solidFill>
                <a:latin typeface="Microsoft YaHei"/>
                <a:ea typeface="Microsoft YaHei"/>
                <a:cs typeface="Microsoft YaHei"/>
              </a:rPr>
              <a:t>可覆盖计算字段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computed 字段可人工议定（override），随交易合法声明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626864"/>
            <a:ext cx="3520440" cy="146304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626864"/>
            <a:ext cx="50800" cy="1463040"/>
          </a:xfrm>
          <a:prstGeom prst="rect">
            <a:avLst/>
          </a:prstGeom>
          <a:solidFill>
            <a:srgbClr val="0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773168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3D6B"/>
                </a:solidFill>
                <a:latin typeface="Microsoft YaHei"/>
                <a:ea typeface="Microsoft YaHei"/>
                <a:cs typeface="Microsoft YaHei"/>
              </a:rPr>
              <a:t>条件计算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when / cases 守卫，公式态 ↔ 可输入态数据驱动切换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4626864"/>
            <a:ext cx="3520440" cy="146304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61688" y="4626864"/>
            <a:ext cx="50800" cy="1463040"/>
          </a:xfrm>
          <a:prstGeom prst="rect">
            <a:avLst/>
          </a:prstGeom>
          <a:solidFill>
            <a:srgbClr val="0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62856" y="4773168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3D6B"/>
                </a:solidFill>
                <a:latin typeface="Microsoft YaHei"/>
                <a:ea typeface="Microsoft YaHei"/>
                <a:cs typeface="Microsoft YaHei"/>
              </a:rPr>
              <a:t>模块化与复用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参数化模块 + bind + ctx，跨 RuleSet imports 复用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83296" y="4626864"/>
            <a:ext cx="3520440" cy="146304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3296" y="4626864"/>
            <a:ext cx="50800" cy="1463040"/>
          </a:xfrm>
          <a:prstGeom prst="rect">
            <a:avLst/>
          </a:prstGeom>
          <a:solidFill>
            <a:srgbClr val="0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4773168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3D6B"/>
                </a:solidFill>
                <a:latin typeface="Microsoft YaHei"/>
                <a:ea typeface="Microsoft YaHei"/>
                <a:cs typeface="Microsoft YaHei"/>
              </a:rPr>
              <a:t>中台防篡改校验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权威重算 + 钉值汇率复核，识破篡改与越权覆盖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677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C2E6"/>
                </a:solidFill>
                <a:latin typeface="Microsoft YaHei"/>
                <a:ea typeface="Microsoft YaHei"/>
                <a:cs typeface="Microsoft YaHei"/>
              </a:rPr>
              <a:t>05 · Consistency &amp; Security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一致性保证与防篡改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394960" cy="22860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800" cy="2286000"/>
          </a:xfrm>
          <a:prstGeom prst="rect">
            <a:avLst/>
          </a:prstGeom>
          <a:solidFill>
            <a:srgbClr val="1C8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45336"/>
            <a:ext cx="5047488" cy="202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C8A4E"/>
                </a:solidFill>
                <a:latin typeface="Microsoft YaHei"/>
                <a:ea typeface="Microsoft YaHei"/>
                <a:cs typeface="Microsoft YaHei"/>
              </a:rPr>
              <a:t>跨语言一致性（已验证）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十进制语义：decimal.js / BigDecimal，HALF_UP，精度 34，禁 IEEE 浮点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Golden Vectors 对拍：JS 22/22 · Java 22/22 全绿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路线 B 真身：内核编译 kernel.wasm，用 Chicory 在 JVM 内运行 12/12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40480"/>
            <a:ext cx="5394960" cy="22860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840480"/>
            <a:ext cx="50800" cy="2286000"/>
          </a:xfrm>
          <a:prstGeom prst="rect">
            <a:avLst/>
          </a:prstGeom>
          <a:solidFill>
            <a:srgbClr val="0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968496"/>
            <a:ext cx="5047488" cy="202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B3D6B"/>
                </a:solidFill>
                <a:latin typeface="Microsoft YaHei"/>
                <a:ea typeface="Microsoft YaHei"/>
                <a:cs typeface="Microsoft YaHei"/>
              </a:rPr>
              <a:t>增量引擎（规模与性能）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Proxy 动态依赖追踪 → cell 级脏传播 → 拓扑结算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上千字段表单改一处，只重算受影响的那条链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异步 pending 沿链传播，取回后局部结算，UI 不整体重算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349240" cy="470916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0800" cy="470916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545336"/>
            <a:ext cx="5001768" cy="4453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B3D6B"/>
                </a:solidFill>
                <a:latin typeface="Microsoft YaHei"/>
                <a:ea typeface="Microsoft YaHei"/>
                <a:cs typeface="Microsoft YaHei"/>
              </a:rPr>
              <a:t>中台权威校验（防篡改）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UI 只提交原始输入；中台用同一内核独立重算（ADR-2/3）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比对客户端值 ↔ 中台权威值，差异即篡改 → 拒绝并留痕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可覆盖字段：honor 合法人工覆盖，拒绝越权覆盖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钉值快照：汇率连同 key / rateId 一起复核，按容差比对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演示：篡改小计 / 净额 / 钉值汇率 → 中台一一识破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前端用不用我们的引擎都不影响：只看原始输入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677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C2E6"/>
                </a:solidFill>
                <a:latin typeface="Microsoft YaHei"/>
                <a:ea typeface="Microsoft YaHei"/>
                <a:cs typeface="Microsoft YaHei"/>
              </a:rPr>
              <a:t>06 · Highlights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方案亮点 / 优势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5349240" cy="1060704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173736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一致性工程化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371600"/>
            <a:ext cx="320040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同一份内核，根治前后端漂移 —— 不靠纪律靠工程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5349240" cy="1060704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173736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业务技术解耦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371600"/>
            <a:ext cx="320040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规则独立演进，改规则不动代码、不重新发版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78608"/>
            <a:ext cx="5349240" cy="1060704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78608"/>
            <a:ext cx="173736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金融级精度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578608"/>
            <a:ext cx="320040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十进制 HALF_UP，禁浮点，跨语言逐位对齐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578608"/>
            <a:ext cx="5349240" cy="1060704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578608"/>
            <a:ext cx="173736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高性能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578608"/>
            <a:ext cx="320040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增量依赖图，大表单改一处只算一条链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85616"/>
            <a:ext cx="5349240" cy="1060704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85616"/>
            <a:ext cx="173736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强防篡改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785616"/>
            <a:ext cx="320040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中台权威重算，UI 求快只作建议，差异留痕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785616"/>
            <a:ext cx="5349240" cy="1060704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785616"/>
            <a:ext cx="173736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785616"/>
            <a:ext cx="320040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参数化模块 + 跨 RuleSet 引用，规则像组件一样拼装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992624"/>
            <a:ext cx="5349240" cy="1060704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992624"/>
            <a:ext cx="173736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可治理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4992624"/>
            <a:ext cx="320040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不可变版本 / 灰度 canary / 指针回滚 / 审计留痕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992624"/>
            <a:ext cx="5349240" cy="1060704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992624"/>
            <a:ext cx="173736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运行时加载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992624"/>
            <a:ext cx="320040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规则不进前端包，按功能动态下发，热更新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677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C2E6"/>
                </a:solidFill>
                <a:latin typeface="Microsoft YaHei"/>
                <a:ea typeface="Microsoft YaHei"/>
                <a:cs typeface="Microsoft YaHei"/>
              </a:rPr>
              <a:t>07 · Migration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现有 J2EE 改造路径（Strangler Fig 渐进式）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11201400" cy="365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2011680"/>
                <a:gridCol w="5486400"/>
                <a:gridCol w="2148840"/>
              </a:tblGrid>
              <a:tr h="4572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73152" marR="54864" marT="27432" marB="27432" anchor="ctr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73152" marR="54864" marT="27432" marB="27432" anchor="ctr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关键动作</a:t>
                      </a:r>
                    </a:p>
                  </a:txBody>
                  <a:tcPr marL="73152" marR="54864" marT="27432" marB="27432" anchor="ctr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产出</a:t>
                      </a:r>
                    </a:p>
                  </a:txBody>
                  <a:tcPr marL="73152" marR="54864" marT="27432" marB="27432" anchor="ctr">
                    <a:solidFill>
                      <a:srgbClr val="0B3D6B"/>
                    </a:solidFill>
                  </a:tcPr>
                </a:tc>
              </a:tr>
              <a:tr h="4572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评估盘点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摸清规则散落点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盘点前端 JS / Service 层 / DB 约束 / 存储过程；选试点功能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规则清单 + 试点范围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抽取建模</a:t>
                      </a:r>
                    </a:p>
                  </a:txBody>
                  <a:tcPr marL="73152" marR="54864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校验+计算抽成 RuleSet</a:t>
                      </a:r>
                    </a:p>
                  </a:txBody>
                  <a:tcPr marL="73152" marR="54864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 DSL 建模；对现网行为建 golden vectors 回归基线</a:t>
                      </a:r>
                    </a:p>
                  </a:txBody>
                  <a:tcPr marL="73152" marR="54864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RuleSet v1 + 金标向量</a:t>
                      </a:r>
                    </a:p>
                  </a:txBody>
                  <a:tcPr marL="73152" marR="54864" marT="27432" marB="27432" anchor="ctr">
                    <a:solidFill>
                      <a:srgbClr val="F3F5F9"/>
                    </a:solidFill>
                  </a:tcPr>
                </a:tc>
              </a:tr>
              <a:tr h="4572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中台嵌入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Java 中台权威重算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引入内核（WASM+Chicory 已验证 / 或纯 Java target），只取原始输入重算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中台校验 API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BFF 接入</a:t>
                      </a:r>
                    </a:p>
                  </a:txBody>
                  <a:tcPr marL="73152" marR="54864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统一入口预校验</a:t>
                      </a:r>
                    </a:p>
                  </a:txBody>
                  <a:tcPr marL="73152" marR="54864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Node BFF 防腐层：提交前校验、转发中台、差异留痕</a:t>
                      </a:r>
                    </a:p>
                  </a:txBody>
                  <a:tcPr marL="73152" marR="54864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BFF 网关</a:t>
                      </a:r>
                    </a:p>
                  </a:txBody>
                  <a:tcPr marL="73152" marR="54864" marT="27432" marB="27432" anchor="ctr">
                    <a:solidFill>
                      <a:srgbClr val="F3F5F9"/>
                    </a:solidFill>
                  </a:tcPr>
                </a:tc>
              </a:tr>
              <a:tr h="4572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前端运行时加载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去前端硬编码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Angular/HTML 运行时按 featureId 拉 RuleSet 动态建表单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参数化前端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灰度并行</a:t>
                      </a:r>
                    </a:p>
                  </a:txBody>
                  <a:tcPr marL="73152" marR="54864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安全切换</a:t>
                      </a:r>
                    </a:p>
                  </a:txBody>
                  <a:tcPr marL="73152" marR="54864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新旧引擎 shadow 比对、差异告警、按功能灰度切流、指针回滚</a:t>
                      </a:r>
                    </a:p>
                  </a:txBody>
                  <a:tcPr marL="73152" marR="54864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灰度报告</a:t>
                      </a:r>
                    </a:p>
                  </a:txBody>
                  <a:tcPr marL="73152" marR="54864" marT="27432" marB="27432" anchor="ctr">
                    <a:solidFill>
                      <a:srgbClr val="F3F5F9"/>
                    </a:solidFill>
                  </a:tcPr>
                </a:tc>
              </a:tr>
              <a:tr h="4572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治理常态化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可持续演进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规则仓库 / 版本 / 审计 / lint 门禁 / 可观测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C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规则治理平台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67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C2E6"/>
                </a:solidFill>
                <a:latin typeface="Microsoft YaHei"/>
                <a:ea typeface="Microsoft YaHei"/>
                <a:cs typeface="Microsoft YaHei"/>
              </a:rPr>
              <a:t>07 · Migration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J2EE 适配要点：为什么能平滑嵌入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500" b="1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引擎是纯函数、无副作用 → 直接嵌入现有 Service 层，不改事务边界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500" b="1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防腐层（ACL）适配器：把现有 Domain / DTO 映射到 RuleSet model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500" b="1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中台落地两条腿，按团队选型：</a:t>
            </a:r>
          </a:p>
          <a:p>
            <a:pPr lvl="1" algn="l"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400" b="0" i="0">
                <a:solidFill>
                  <a:srgbClr val="5A6677"/>
                </a:solidFill>
                <a:latin typeface="Microsoft YaHei"/>
                <a:ea typeface="Microsoft YaHei"/>
                <a:cs typeface="Microsoft YaHei"/>
              </a:rPr>
              <a:t>WASM 内核 + Chicory：一致性最强，与前端同一份字节码（已 PoC 验证）</a:t>
            </a:r>
          </a:p>
          <a:p>
            <a:pPr lvl="1" algn="l"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400" b="0" i="0">
                <a:solidFill>
                  <a:srgbClr val="5A6677"/>
                </a:solidFill>
                <a:latin typeface="Microsoft YaHei"/>
                <a:ea typeface="Microsoft YaHei"/>
                <a:cs typeface="Microsoft YaHei"/>
              </a:rPr>
              <a:t>纯 Java target：团队最熟悉，便于调试与现有体系融合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500" b="1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Rule Bundle API 可挂在现有 API Gateway / 配置中心下发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500" b="1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回归安全：先用 golden vectors 锁住现网行为，对拍通过再替换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500" b="1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渐进式 Strangler Fig：一个功能一个功能切，避免大爆炸式重写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67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C2E6"/>
                </a:solidFill>
                <a:latin typeface="Microsoft YaHei"/>
                <a:ea typeface="Microsoft YaHei"/>
                <a:cs typeface="Microsoft YaHei"/>
              </a:rPr>
              <a:t>08 · Roadmap &amp; Risk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落地路线图与风险应对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5394960" cy="466344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50800" cy="4663440"/>
          </a:xfrm>
          <a:prstGeom prst="rect">
            <a:avLst/>
          </a:prstGeom>
          <a:solidFill>
            <a:srgbClr val="0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9616"/>
            <a:ext cx="5047488" cy="4407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B3D6B"/>
                </a:solidFill>
                <a:latin typeface="Microsoft YaHei"/>
                <a:ea typeface="Microsoft YaHei"/>
                <a:cs typeface="Microsoft YaHei"/>
              </a:rPr>
              <a:t>里程碑（建议节奏）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M1（已完成）：双语言 + WASM 一致性 PoC、增量引擎、Angular L/C 示例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M2：选 1~2 个真实功能试点，抽取 RuleSet + 建金标向量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M3：中台内核嵌入 + BFF 防腐层，shadow 并行比对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M4：前端运行时加载替换硬编码校验，灰度切流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M5：规则治理平台（版本 / 审计 / lint / 可观测）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5349240" cy="466344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0800" cy="4663440"/>
          </a:xfrm>
          <a:prstGeom prst="rect">
            <a:avLst/>
          </a:prstGeom>
          <a:solidFill>
            <a:srgbClr val="A86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499616"/>
            <a:ext cx="5001768" cy="4407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A86609"/>
                </a:solidFill>
                <a:latin typeface="Microsoft YaHei"/>
                <a:ea typeface="Microsoft YaHei"/>
                <a:cs typeface="Microsoft YaHei"/>
              </a:rPr>
              <a:t>主要风险与应对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内核选型落地（WASM/Java）→ 已做技术验证，两条腿可选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复杂存量逻辑难抽象 → 表达式→Formula→Function 逐级升级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规则正确性 → golden vectors 跨语言对拍 + 属性测试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性能（上千字段）→ 增量依赖图 + 资源预算，已验证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组织协同 → 规则归口治理、变更评审、灰度与回滚兜底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67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C2E6"/>
                </a:solidFill>
                <a:latin typeface="Microsoft YaHei"/>
                <a:ea typeface="Microsoft YaHei"/>
                <a:cs typeface="Microsoft YaHei"/>
              </a:rPr>
              <a:t>09 · Recommendations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其它建议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5349240" cy="13716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50800" cy="1371600"/>
          </a:xfrm>
          <a:prstGeom prst="rect">
            <a:avLst/>
          </a:prstGeom>
          <a:solidFill>
            <a:srgbClr val="1C8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17904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3D6B"/>
                </a:solidFill>
                <a:latin typeface="Microsoft YaHei"/>
                <a:ea typeface="Microsoft YaHei"/>
                <a:cs typeface="Microsoft YaHei"/>
              </a:rPr>
              <a:t>Rule Bundle API 正式化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版本 / ETag 缓存 / 灰度路由 / 鉴权，作为规则分发基座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5349240" cy="13716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0800" cy="1371600"/>
          </a:xfrm>
          <a:prstGeom prst="rect">
            <a:avLst/>
          </a:prstGeom>
          <a:solidFill>
            <a:srgbClr val="1C8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17904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3D6B"/>
                </a:solidFill>
                <a:latin typeface="Microsoft YaHei"/>
                <a:ea typeface="Microsoft YaHei"/>
                <a:cs typeface="Microsoft YaHei"/>
              </a:rPr>
              <a:t>规则治理与审计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变更评审、不可变版本、canary、指针回滚、操作全留痕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26080"/>
            <a:ext cx="5349240" cy="13716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926080"/>
            <a:ext cx="50800" cy="1371600"/>
          </a:xfrm>
          <a:prstGeom prst="rect">
            <a:avLst/>
          </a:prstGeom>
          <a:solidFill>
            <a:srgbClr val="1C8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72384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3D6B"/>
                </a:solidFill>
                <a:latin typeface="Microsoft YaHei"/>
                <a:ea typeface="Microsoft YaHei"/>
                <a:cs typeface="Microsoft YaHei"/>
              </a:rPr>
              <a:t>Schema 形式化 + Lint 门禁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JSON Schema 校验；禁止模块内引用 root/parent；命名规范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926080"/>
            <a:ext cx="5349240" cy="13716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926080"/>
            <a:ext cx="50800" cy="1371600"/>
          </a:xfrm>
          <a:prstGeom prst="rect">
            <a:avLst/>
          </a:prstGeom>
          <a:solidFill>
            <a:srgbClr val="1C8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072384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3D6B"/>
                </a:solidFill>
                <a:latin typeface="Microsoft YaHei"/>
                <a:ea typeface="Microsoft YaHei"/>
                <a:cs typeface="Microsoft YaHei"/>
              </a:rPr>
              <a:t>可观测性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divergence 指标 / 告警阈值、规则命中率、计算性能埋点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480560"/>
            <a:ext cx="5349240" cy="13716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480560"/>
            <a:ext cx="50800" cy="1371600"/>
          </a:xfrm>
          <a:prstGeom prst="rect">
            <a:avLst/>
          </a:prstGeom>
          <a:solidFill>
            <a:srgbClr val="1C8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626864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3D6B"/>
                </a:solidFill>
                <a:latin typeface="Microsoft YaHei"/>
                <a:ea typeface="Microsoft YaHei"/>
                <a:cs typeface="Microsoft YaHei"/>
              </a:rPr>
              <a:t>测试金字塔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golden vectors（跨语言）+ 属性测试 + 端到端回归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480560"/>
            <a:ext cx="5349240" cy="13716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4480560"/>
            <a:ext cx="50800" cy="1371600"/>
          </a:xfrm>
          <a:prstGeom prst="rect">
            <a:avLst/>
          </a:prstGeom>
          <a:solidFill>
            <a:srgbClr val="1C8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626864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3D6B"/>
                </a:solidFill>
                <a:latin typeface="Microsoft YaHei"/>
                <a:ea typeface="Microsoft YaHei"/>
                <a:cs typeface="Microsoft YaHei"/>
              </a:rPr>
              <a:t>与 BPM / 工作流划界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长流程交流程引擎；规则只管校验 + 计算，协议清晰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67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468880"/>
            <a:ext cx="12191695" cy="38100"/>
          </a:xfrm>
          <a:prstGeom prst="rect">
            <a:avLst/>
          </a:prstGeom>
          <a:solidFill>
            <a:srgbClr val="0B6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9FC2E6"/>
                </a:solidFill>
                <a:latin typeface="Microsoft YaHei"/>
                <a:ea typeface="Microsoft YaHei"/>
                <a:cs typeface="Microsoft YaHei"/>
              </a:rPr>
              <a:t>一句话总结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一致性靠同一份内核，不靠两份等价实现。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10515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600" b="0" i="0">
                <a:solidFill>
                  <a:srgbClr val="DDE9F5"/>
                </a:solidFill>
                <a:latin typeface="Microsoft YaHei"/>
                <a:ea typeface="Microsoft YaHei"/>
                <a:cs typeface="Microsoft YaHei"/>
              </a:rPr>
              <a:t>UI 求快只作建议，中台求准独立裁决，差异必留痕。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600" b="0" i="0">
                <a:solidFill>
                  <a:srgbClr val="DDE9F5"/>
                </a:solidFill>
                <a:latin typeface="Microsoft YaHei"/>
                <a:ea typeface="Microsoft YaHei"/>
                <a:cs typeface="Microsoft YaHei"/>
              </a:rPr>
              <a:t>规则像组件一样复用、像配置一样治理、像产物一样运行时下发。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0B6BC2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600" b="0" i="0">
                <a:solidFill>
                  <a:srgbClr val="DDE9F5"/>
                </a:solidFill>
                <a:latin typeface="Microsoft YaHei"/>
                <a:ea typeface="Microsoft YaHei"/>
                <a:cs typeface="Microsoft YaHei"/>
              </a:rPr>
              <a:t>现有 J2EE 可用 Strangler Fig 渐进式改造，golden vectors 锁住回归，安全切换。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下一步：选定试点功能，启动 M2 规则抽取与金标向量建设。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